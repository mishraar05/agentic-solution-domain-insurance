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1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2651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Target Modeling on Databricks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33832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Silver ODS and Gold data-product recommendations for P&amp;C modernization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orchestrator + six specialist agents · recommendation-only · human-approved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Architecture Design Document v0.2 (11 July 2026) · Solution Architecture v0.1 — Draft for review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Assumptions &amp; Solution Boundary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assumed where the design doc leaves decisions open (Section 18) — each is flagged and reversible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548640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8D5D0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216152"/>
            <a:ext cx="5266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· Model serving (R-07 open)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shared Databricks-hosted foundation model served via Mosaic AI Model Serving. Logical agents differ by system prompt, retrieval scope, tool binding, output contract, and evals — not by dedicated model deployments.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17920" y="1143000"/>
            <a:ext cx="548640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8D5D0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27648" y="1216152"/>
            <a:ext cx="5266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· Workflow topology (R-08 open)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55080" y="150876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durable orchestration on Lakeflow Jobs: unique run ID, immutable scope version, idempotent tasks, targeted re-runs with downstream invalidation (D-10).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548640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8D5D0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66928" y="2816352"/>
            <a:ext cx="5266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· Review workbench (R-05 open)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10896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Workbench delivered as a Databricks App backed by Databricks SQL over the recommendation repository, with approval writes captured in Delta.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0" y="2743200"/>
            <a:ext cx="548640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8D5D0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27648" y="2816352"/>
            <a:ext cx="5266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 · Confidence thresholds (R-04 open)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5080" y="310896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evidence-based confidence (D-09) with project-set thresholds; controls task progression only — never approval, publication, or implementation.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526280"/>
            <a:ext cx="11274552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8D5D0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6928" y="459943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solution boundary (not assumptions — from design decisions D-04, D-05, D-08)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4892040"/>
            <a:ext cx="1100023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Recommendation-only: agents never deploy schemas, generate executable SQL/PySpark/DDL, or publish authoritative models without human approval.</a:t>
            </a:r>
            <a:endParaRPr lang="en-US" sz="105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source ingestion, conversion execution, migration, or cutover capability inside the boundary; Bronze is analyzed, never created.</a:t>
            </a:r>
            <a:endParaRPr lang="en-US" sz="105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metadata, knowledge, retrieval, reasoning, and recommendations remain inside the governed Databricks boundary under Unity Catalog.</a:t>
            </a:r>
            <a:endParaRPr lang="en-US" sz="105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tool surface is read/query/retrieval only, enforced through tool binding and least-privilege service identities — auditable by design.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Solution Architecture on Databricks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components (design doc Section 7) mapped to fit-for-purpose Databricks capabilities (Section 14)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69748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8D5D0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5488" y="1124712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Knowledge Foundation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2423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P&amp;C ontology &amp; glossary (UC assets)</a:t>
            </a:r>
            <a:endParaRPr lang="en-US" sz="8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COTS models &amp; docs (Guidewire, Origami, Majesco)</a:t>
            </a:r>
            <a:endParaRPr lang="en-US" sz="8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Silver/Gold/STTM standards</a:t>
            </a:r>
            <a:endParaRPr lang="en-US" sz="8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decisions &amp; rule corpus (Delta)</a:t>
            </a:r>
            <a:endParaRPr lang="en-US" sz="8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indexes (scoped, filtered)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365760" y="3474720"/>
            <a:ext cx="26974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D5D0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" y="3547872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Source Evidence (read-only)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384048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 metadata: schemas, columns, keys</a:t>
            </a:r>
            <a:endParaRPr lang="en-US" sz="8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profiling via Databricks SQL (masked, sanitized — D-11)</a:t>
            </a:r>
            <a:endParaRPr lang="en-US" sz="8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notebooks, queries, lineage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3429000" y="1051560"/>
            <a:ext cx="5212080" cy="594360"/>
          </a:xfrm>
          <a:prstGeom prst="roundRect">
            <a:avLst>
              <a:gd name="adj" fmla="val 7692"/>
            </a:avLst>
          </a:prstGeom>
          <a:solidFill>
            <a:srgbClr val="1B3139"/>
          </a:solidFill>
          <a:ln w="12700">
            <a:solidFill>
              <a:srgbClr val="1B313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05156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Agent  </a:t>
            </a:r>
            <a:pPr indent="0" marL="0">
              <a:buNone/>
            </a:pPr>
            <a:r>
              <a:rPr lang="en-US" sz="8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Lakeflow Jobs · durable runs · context assembly · approval routing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29000" y="1874520"/>
            <a:ext cx="16459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875">
            <a:solidFill>
              <a:srgbClr val="1B31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8745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Intelligence Agent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212080" y="1874520"/>
            <a:ext cx="16459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875">
            <a:solidFill>
              <a:srgbClr val="1B313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18745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&amp; Semantic Agent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995160" y="1874520"/>
            <a:ext cx="16459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875">
            <a:solidFill>
              <a:srgbClr val="1B31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95160" y="18745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ODS Modeling Agent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29000" y="2651760"/>
            <a:ext cx="16459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875">
            <a:solidFill>
              <a:srgbClr val="1B313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26517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Data Product Agent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212080" y="2651760"/>
            <a:ext cx="16459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875">
            <a:solidFill>
              <a:srgbClr val="1B313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26517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STTM &amp; Business-Rule Agent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995160" y="2651760"/>
            <a:ext cx="16459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5875">
            <a:solidFill>
              <a:srgbClr val="1B313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95160" y="26517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Review Agent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29000" y="3520440"/>
            <a:ext cx="5212080" cy="822960"/>
          </a:xfrm>
          <a:prstGeom prst="roundRect">
            <a:avLst>
              <a:gd name="adj" fmla="val 5556"/>
            </a:avLst>
          </a:prstGeom>
          <a:solidFill>
            <a:srgbClr val="F5F4F2"/>
          </a:solidFill>
          <a:ln w="12700">
            <a:solidFill>
              <a:srgbClr val="D8D5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38728" y="35204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Harness (shared)  </a:t>
            </a:r>
            <a:endParaRPr lang="en-US" sz="950" dirty="0"/>
          </a:p>
          <a:p>
            <a:pPr indent="0" marL="0">
              <a:buNone/>
            </a:pPr>
            <a:r>
              <a:rPr lang="en-US" sz="82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Mosaic AI Agent Framework + Model Serving · context engineering · tool gateway · memory · guardrails · structured output contracts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29000" y="4480560"/>
            <a:ext cx="5212080" cy="822960"/>
          </a:xfrm>
          <a:prstGeom prst="roundRect">
            <a:avLst>
              <a:gd name="adj" fmla="val 5556"/>
            </a:avLst>
          </a:prstGeom>
          <a:solidFill>
            <a:srgbClr val="F5F4F2"/>
          </a:solidFill>
          <a:ln w="12700">
            <a:solidFill>
              <a:srgbClr val="D8D5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38728" y="44805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 </a:t>
            </a:r>
            <a:endParaRPr lang="en-US" sz="950" dirty="0"/>
          </a:p>
          <a:p>
            <a:pPr indent="0" marL="0">
              <a:buNone/>
            </a:pPr>
            <a:r>
              <a:rPr lang="en-US" sz="82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registry &amp; versioning · evaluation datasets &amp; judges · confidence calibration vs labelled reviewer set · agent tracing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006840" y="1051560"/>
            <a:ext cx="278892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D8D5D0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116568" y="1124712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Recommendation Repository (Delta)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144000" y="1417320"/>
            <a:ext cx="2514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Versioned: ontology maps, Silver/Gold models, STTM, rules, derivations</a:t>
            </a:r>
            <a:endParaRPr lang="en-US" sz="8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Evidence, provenance, confidence, assumptions, contradictions</a:t>
            </a:r>
            <a:endParaRPr lang="en-US" sz="8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states: Proposed → Reviewed → Approved / Rejected / Superseded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9006840" y="3200400"/>
            <a:ext cx="278892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8D5D0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1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116568" y="3273552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Workbench (Databricks App + DBSQL)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144000" y="3566160"/>
            <a:ext cx="2514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architect: structure, grain, keys</a:t>
            </a:r>
            <a:endParaRPr lang="en-US" sz="8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SME / steward: meaning, rules, mappings</a:t>
            </a:r>
            <a:endParaRPr lang="en-US" sz="8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steward: privacy classes</a:t>
            </a:r>
            <a:endParaRPr lang="en-US" sz="8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+ rationale versioned; approved decisions feed back to knowledge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3063240" y="2194560"/>
            <a:ext cx="365760" cy="0"/>
          </a:xfrm>
          <a:prstGeom prst="line">
            <a:avLst/>
          </a:prstGeom>
          <a:noFill/>
          <a:ln w="25400">
            <a:solidFill>
              <a:srgbClr val="5B6B73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3063240" y="4206240"/>
            <a:ext cx="365760" cy="0"/>
          </a:xfrm>
          <a:prstGeom prst="line">
            <a:avLst/>
          </a:prstGeom>
          <a:noFill/>
          <a:ln w="25400">
            <a:solidFill>
              <a:srgbClr val="5B6B73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8641080" y="2194560"/>
            <a:ext cx="365760" cy="0"/>
          </a:xfrm>
          <a:prstGeom prst="line">
            <a:avLst/>
          </a:prstGeom>
          <a:noFill/>
          <a:ln w="25400">
            <a:solidFill>
              <a:srgbClr val="5B6B73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641080" y="4206240"/>
            <a:ext cx="365760" cy="0"/>
          </a:xfrm>
          <a:prstGeom prst="line">
            <a:avLst/>
          </a:prstGeom>
          <a:noFill/>
          <a:ln w="25400">
            <a:solidFill>
              <a:srgbClr val="5B6B73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10378440" y="3063240"/>
            <a:ext cx="0" cy="137160"/>
          </a:xfrm>
          <a:prstGeom prst="line">
            <a:avLst/>
          </a:prstGeom>
          <a:noFill/>
          <a:ln w="25400">
            <a:solidFill>
              <a:srgbClr val="5B6B73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365760" y="5532120"/>
            <a:ext cx="11430000" cy="1005840"/>
          </a:xfrm>
          <a:prstGeom prst="roundRect">
            <a:avLst>
              <a:gd name="adj" fmla="val 4545"/>
            </a:avLst>
          </a:prstGeom>
          <a:solidFill>
            <a:srgbClr val="1B3139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55321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governance plane   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service identities per agent (D-08) · engagement isolation via catalogs/schemas, scoped retrieval collections &amp; identities (D-12) · lineage, ownership, privacy classifications · operational audit via system tables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Harness Architecture (shared by all 7 agents)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governed runtime pattern; agents differ only in prompt, context scope, tool binding, memory needs, and output contract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210312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8D5D0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5488" y="144475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Task Input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73736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6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+ run ID from Orchestrator</a:t>
            </a:r>
            <a:endParaRPr lang="en-US" sz="86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6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scope version (source, product/module/version, domain/LOB, layer)</a:t>
            </a:r>
            <a:endParaRPr lang="en-US" sz="86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6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contract &amp; confidence rules</a:t>
            </a:r>
            <a:endParaRPr lang="en-US" sz="860" dirty="0"/>
          </a:p>
        </p:txBody>
      </p:sp>
      <p:sp>
        <p:nvSpPr>
          <p:cNvPr id="7" name="Shape 5"/>
          <p:cNvSpPr/>
          <p:nvPr/>
        </p:nvSpPr>
        <p:spPr>
          <a:xfrm>
            <a:off x="2743200" y="1371600"/>
            <a:ext cx="265176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8D5D0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852928" y="144475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Context Engineering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80360" y="173736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6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retrieval: UC structured + Vector Search</a:t>
            </a:r>
            <a:endParaRPr lang="en-US" sz="86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6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Filters: engagement, product version, domain/LOB, artifact type, approval state</a:t>
            </a:r>
            <a:endParaRPr lang="en-US" sz="86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6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sanitization (D-11)</a:t>
            </a:r>
            <a:endParaRPr lang="en-US" sz="86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6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authoritative context package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5669280" y="1371600"/>
            <a:ext cx="274320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8D5D0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79008" y="144475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Reasoning Core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06440" y="1737360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6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FM via Mosaic AI Model Serving (A1)</a:t>
            </a:r>
            <a:endParaRPr lang="en-US" sz="86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6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system prompt vN (MLflow prompt registry)</a:t>
            </a:r>
            <a:endParaRPr lang="en-US" sz="86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6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contract (JSON schema)</a:t>
            </a:r>
            <a:endParaRPr lang="en-US" sz="86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6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vs inferred separation enforced in contract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8686800" y="1371600"/>
            <a:ext cx="310896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8D5D0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796528" y="1444752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Output &amp; Persistence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823960" y="173736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6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Schema-validated recommendation written to Delta repository as “Proposed”</a:t>
            </a:r>
            <a:endParaRPr lang="en-US" sz="86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6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refs, assumptions, contradictions, confidence attached</a:t>
            </a:r>
            <a:endParaRPr lang="en-US" sz="86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6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state: completed / needs-clarification / failed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2487168" y="2423160"/>
            <a:ext cx="237744" cy="0"/>
          </a:xfrm>
          <a:prstGeom prst="line">
            <a:avLst/>
          </a:prstGeom>
          <a:noFill/>
          <a:ln w="25400">
            <a:solidFill>
              <a:srgbClr val="5B6B73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413248" y="2423160"/>
            <a:ext cx="237744" cy="0"/>
          </a:xfrm>
          <a:prstGeom prst="line">
            <a:avLst/>
          </a:prstGeom>
          <a:noFill/>
          <a:ln w="25400">
            <a:solidFill>
              <a:srgbClr val="5B6B73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430768" y="2423160"/>
            <a:ext cx="237744" cy="0"/>
          </a:xfrm>
          <a:prstGeom prst="line">
            <a:avLst/>
          </a:prstGeom>
          <a:noFill/>
          <a:ln w="25400">
            <a:solidFill>
              <a:srgbClr val="5B6B73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743200" y="3794760"/>
            <a:ext cx="566928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5875">
            <a:solidFill>
              <a:srgbClr val="FF362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52928" y="3794760"/>
            <a:ext cx="5440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 Gateway (D-08 enforcement point)  </a:t>
            </a:r>
            <a:endParaRPr lang="en-US" sz="950" dirty="0"/>
          </a:p>
          <a:p>
            <a:pPr indent="0" marL="0">
              <a:buNone/>
            </a:pPr>
            <a:r>
              <a:rPr lang="en-US" sz="83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 Functions / governed SQL, allowlisted per agent · read, query, retrieval ONLY · least-privilege service identity · no write / deploy / execute / credential / ingest tools exist on the surface · every call audited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040880" y="3474720"/>
            <a:ext cx="0" cy="320040"/>
          </a:xfrm>
          <a:prstGeom prst="line">
            <a:avLst/>
          </a:prstGeom>
          <a:noFill/>
          <a:ln w="25400">
            <a:solidFill>
              <a:srgbClr val="5B6B73"/>
            </a:solidFill>
            <a:prstDash val="solid"/>
            <a:headEnd type="triangl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743200" y="5029200"/>
            <a:ext cx="1828800" cy="914400"/>
          </a:xfrm>
          <a:prstGeom prst="roundRect">
            <a:avLst>
              <a:gd name="adj" fmla="val 5000"/>
            </a:avLst>
          </a:prstGeom>
          <a:solidFill>
            <a:srgbClr val="E7F2ED"/>
          </a:solidFill>
          <a:ln w="12700">
            <a:solidFill>
              <a:srgbClr val="2D7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98064" y="5065776"/>
            <a:ext cx="17190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memory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knowledge: ontology, COTS, standards, rules (UC + Vector Search)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5029200"/>
            <a:ext cx="1828800" cy="914400"/>
          </a:xfrm>
          <a:prstGeom prst="roundRect">
            <a:avLst>
              <a:gd name="adj" fmla="val 5000"/>
            </a:avLst>
          </a:prstGeom>
          <a:solidFill>
            <a:srgbClr val="F0EAF6"/>
          </a:solidFill>
          <a:ln w="12700">
            <a:solidFill>
              <a:srgbClr val="7B4B9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18304" y="5065776"/>
            <a:ext cx="17190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memory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history, decisions, reviewer outcomes, open questions (Delta)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583680" y="5029200"/>
            <a:ext cx="1828800" cy="914400"/>
          </a:xfrm>
          <a:prstGeom prst="roundRect">
            <a:avLst>
              <a:gd name="adj" fmla="val 5000"/>
            </a:avLst>
          </a:prstGeom>
          <a:solidFill>
            <a:srgbClr val="FBEFE0"/>
          </a:solidFill>
          <a:ln w="12700">
            <a:solidFill>
              <a:srgbClr val="C26B1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38544" y="5065776"/>
            <a:ext cx="17190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2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memory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Prompts, output contracts, confidence rules, playbooks (MLflow/UC)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577840" y="4754880"/>
            <a:ext cx="0" cy="274320"/>
          </a:xfrm>
          <a:prstGeom prst="line">
            <a:avLst/>
          </a:prstGeom>
          <a:noFill/>
          <a:ln w="25400">
            <a:solidFill>
              <a:srgbClr val="5B6B73"/>
            </a:solidFill>
            <a:prstDash val="solid"/>
            <a:headEnd type="triangl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686800" y="3794760"/>
            <a:ext cx="310896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FF3621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796528" y="3867912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&amp; Guardrail Layer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823960" y="4160520"/>
            <a:ext cx="2834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6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Pre: scope check, prompt-injection &amp; evidence-class filters</a:t>
            </a:r>
            <a:endParaRPr lang="en-US" sz="86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6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Post: contract validation, deterministic confidence scoring (D-09), contradiction check</a:t>
            </a:r>
            <a:endParaRPr lang="en-US" sz="86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6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judges vs labelled reviewer set</a:t>
            </a:r>
            <a:endParaRPr lang="en-US" sz="86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6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Route: auto-progress | needs-clarification | named human reviewer</a:t>
            </a:r>
            <a:endParaRPr lang="en-US" sz="860" dirty="0"/>
          </a:p>
        </p:txBody>
      </p:sp>
      <p:sp>
        <p:nvSpPr>
          <p:cNvPr id="32" name="Shape 30"/>
          <p:cNvSpPr/>
          <p:nvPr/>
        </p:nvSpPr>
        <p:spPr>
          <a:xfrm>
            <a:off x="10149840" y="3474720"/>
            <a:ext cx="0" cy="320040"/>
          </a:xfrm>
          <a:prstGeom prst="line">
            <a:avLst/>
          </a:prstGeom>
          <a:noFill/>
          <a:ln w="25400">
            <a:solidFill>
              <a:srgbClr val="5B6B73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457200" y="6053328"/>
            <a:ext cx="11274552" cy="566928"/>
          </a:xfrm>
          <a:prstGeom prst="roundRect">
            <a:avLst>
              <a:gd name="adj" fmla="val 8065"/>
            </a:avLst>
          </a:prstGeom>
          <a:solidFill>
            <a:srgbClr val="FDECE8"/>
          </a:solidFill>
          <a:ln w="12700">
            <a:solidFill>
              <a:srgbClr val="FF362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6053328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&amp; EVAL   </a:t>
            </a:r>
            <a:pPr indent="0" marL="0">
              <a:buNone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controls routing only. No recommendation becomes authoritative, no code is generated, and no bypass of architect / steward / privacy review is possible — enforced by tool binding, not by prompt.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Architecture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memory types mapped to governed Databricks stores — memory is deterministic platform state, never an autonomous agent (Section 8.1)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639312" cy="5212080"/>
          </a:xfrm>
          <a:prstGeom prst="roundRect">
            <a:avLst>
              <a:gd name="adj" fmla="val 1508"/>
            </a:avLst>
          </a:prstGeom>
          <a:solidFill>
            <a:srgbClr val="E7F2ED"/>
          </a:solidFill>
          <a:ln w="19050">
            <a:solidFill>
              <a:srgbClr val="2D7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80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Memory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1600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solution knows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21792" y="1965960"/>
            <a:ext cx="331012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P&amp;C ontology, glossary, synonyms, lifecycle states</a:t>
            </a:r>
            <a:endParaRPr lang="en-US" sz="95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COTS product/module/version models &amp; docs</a:t>
            </a:r>
            <a:endParaRPr lang="en-US" sz="95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Silver/Gold/STTM/privacy standards</a:t>
            </a:r>
            <a:endParaRPr lang="en-US" sz="95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business-rule corpus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21792" y="4480560"/>
            <a:ext cx="3310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store
</a:t>
            </a:r>
            <a:pPr indent="0" marL="0">
              <a:buNone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assets + Delta + Vector Search indexes (scoped, version-pinned)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21792" y="5577840"/>
            <a:ext cx="3310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 Source Intelligence, Ontology &amp; Semantic, Silver, Gold, STTM, Trust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370832" y="1143000"/>
            <a:ext cx="3639312" cy="5212080"/>
          </a:xfrm>
          <a:prstGeom prst="roundRect">
            <a:avLst>
              <a:gd name="adj" fmla="val 1508"/>
            </a:avLst>
          </a:prstGeom>
          <a:solidFill>
            <a:srgbClr val="F0EAF6"/>
          </a:solidFill>
          <a:ln w="19050">
            <a:solidFill>
              <a:srgbClr val="7B4B9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07992" y="1280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Memory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07992" y="1600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has happened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35424" y="1965960"/>
            <a:ext cx="331012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runs, task states, run IDs, scope versions</a:t>
            </a:r>
            <a:endParaRPr lang="en-US" sz="95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/ rejected decisions with rationale (rejections prevent re-proposals)</a:t>
            </a:r>
            <a:endParaRPr lang="en-US" sz="95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outcomes feeding confidence calibration</a:t>
            </a:r>
            <a:endParaRPr lang="en-US" sz="95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 &amp; review comments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35424" y="4480560"/>
            <a:ext cx="3310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7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store
</a:t>
            </a:r>
            <a:pPr indent="0" marL="0">
              <a:buNone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tables: workflow state, decision &amp; approval records, audit (system tables)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35424" y="5577840"/>
            <a:ext cx="3310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 all 7 agents (Orchestrator &amp; Trust most heavily)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8284464" y="1143000"/>
            <a:ext cx="3639312" cy="5212080"/>
          </a:xfrm>
          <a:prstGeom prst="roundRect">
            <a:avLst>
              <a:gd name="adj" fmla="val 1508"/>
            </a:avLst>
          </a:prstGeom>
          <a:solidFill>
            <a:srgbClr val="FBEFE0"/>
          </a:solidFill>
          <a:ln w="19050">
            <a:solidFill>
              <a:srgbClr val="C26B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21624" y="1280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Memory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21624" y="16002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work is done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449056" y="1965960"/>
            <a:ext cx="331012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agent system prompts &amp; task playbooks</a:t>
            </a:r>
            <a:endParaRPr lang="en-US" sz="95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contracts (ontology, models, STTM, rules)</a:t>
            </a:r>
            <a:endParaRPr lang="en-US" sz="95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method, thresholds &amp; routing criteria</a:t>
            </a:r>
            <a:endParaRPr lang="en-US" sz="95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&amp; mapping criteria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449056" y="4480560"/>
            <a:ext cx="3310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C2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store
</a:t>
            </a:r>
            <a:pPr indent="0" marL="0">
              <a:buNone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prompt registry + UC-governed contract/config tables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449056" y="5577840"/>
            <a:ext cx="3310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 all 7 agents (read-only at runtime; changed via governed release)</a:t>
            </a:r>
            <a:endParaRPr lang="en-US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Component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authoritative context package per task, with explicit scope, evidence, version, and approval state (Section 9)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212848" cy="2743200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D8D5D0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5488" y="135331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Scope Resolver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193852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immutable project scope: source platform, product/module/version, domains, LOBs, layer, exclusions, approvers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2578608" y="2651760"/>
            <a:ext cx="182880" cy="0"/>
          </a:xfrm>
          <a:prstGeom prst="line">
            <a:avLst/>
          </a:prstGeom>
          <a:noFill/>
          <a:ln w="25400">
            <a:solidFill>
              <a:srgbClr val="5B6B73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761488" y="1280160"/>
            <a:ext cx="2212848" cy="2743200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D8D5D0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71216" y="135331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Governed Retrieval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98648" y="1645920"/>
            <a:ext cx="193852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UC queries + Vector Search over approved knowledge; mandatory filters: engagement, product version, domain/LOB, artifact type, approval state (19.3)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4974336" y="2651760"/>
            <a:ext cx="182880" cy="0"/>
          </a:xfrm>
          <a:prstGeom prst="line">
            <a:avLst/>
          </a:prstGeom>
          <a:noFill/>
          <a:ln w="25400">
            <a:solidFill>
              <a:srgbClr val="5B6B73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157216" y="1280160"/>
            <a:ext cx="2212848" cy="2743200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D8D5D0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66944" y="135331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Evidence Sanitization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94376" y="1645920"/>
            <a:ext cx="193852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Evidence-class check before use: minimization, masking, retention (D-11); raw narrative / medical / legal text never embedded or indexed by default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7370064" y="2651760"/>
            <a:ext cx="182880" cy="0"/>
          </a:xfrm>
          <a:prstGeom prst="line">
            <a:avLst/>
          </a:prstGeom>
          <a:noFill/>
          <a:ln w="25400">
            <a:solidFill>
              <a:srgbClr val="5B6B73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552944" y="1280160"/>
            <a:ext cx="2212848" cy="2743200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D8D5D0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662672" y="135331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Context Assembler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690104" y="1645920"/>
            <a:ext cx="193852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task package: objective, constraints, evidence, prior decisions, output contract, confidence rules — nothing more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9765792" y="2651760"/>
            <a:ext cx="182880" cy="0"/>
          </a:xfrm>
          <a:prstGeom prst="line">
            <a:avLst/>
          </a:prstGeom>
          <a:noFill/>
          <a:ln w="25400">
            <a:solidFill>
              <a:srgbClr val="5B6B73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948672" y="1280160"/>
            <a:ext cx="2212848" cy="2743200"/>
          </a:xfrm>
          <a:prstGeom prst="roundRect">
            <a:avLst>
              <a:gd name="adj" fmla="val 2479"/>
            </a:avLst>
          </a:prstGeom>
          <a:solidFill>
            <a:srgbClr val="FFFFFF"/>
          </a:solidFill>
          <a:ln w="12700">
            <a:solidFill>
              <a:srgbClr val="D8D5D0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058400" y="1353312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Context Evaluation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85832" y="1645920"/>
            <a:ext cx="193852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2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retrieval fitness &amp; evidence sufficiency; conflicts exposed, not resolved; approved corrections reused; feedback improves retrieval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365760" y="4343400"/>
            <a:ext cx="557784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D5D0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5488" y="4416552"/>
            <a:ext cx="5358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memory feeds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4709160"/>
            <a:ext cx="5303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Semantic: ontology / COTS / standards versions pinned into the package</a:t>
            </a:r>
            <a:endParaRPr lang="en-US" sz="95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Episodic: approved &amp; rejected decisions, open questions, review comments</a:t>
            </a:r>
            <a:endParaRPr lang="en-US" sz="95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Procedural: output contract + confidence rules injected every task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72200" y="4343400"/>
            <a:ext cx="557784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D5D0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81928" y="4416552"/>
            <a:ext cx="5358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rules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4709160"/>
            <a:ext cx="5303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and record every knowledge source used (acceptance criterion 16.2)</a:t>
            </a:r>
            <a:endParaRPr lang="en-US" sz="95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evidence maps and validates — it never defines the enterprise ontology (D-01)</a:t>
            </a:r>
            <a:endParaRPr lang="en-US" sz="95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model memory is not authoritative; grounding is retrieved (D-02)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6053328"/>
            <a:ext cx="11274552" cy="566928"/>
          </a:xfrm>
          <a:prstGeom prst="roundRect">
            <a:avLst>
              <a:gd name="adj" fmla="val 8065"/>
            </a:avLst>
          </a:prstGeom>
          <a:solidFill>
            <a:srgbClr val="FDECE8"/>
          </a:solidFill>
          <a:ln w="12700">
            <a:solidFill>
              <a:srgbClr val="FF362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6053328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&amp; EVAL   </a:t>
            </a:r>
            <a:pPr indent="0" marL="0">
              <a:buNone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outside the engagement, product version, domain/LOB, or approval-state filter is technically blocked — context scope is a guardrail, not a convention.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 · Orchestrator Agent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workflow, context assembly, task routing, durable state, and approval escalation — runs on Lakeflow Jobs (A2)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788920" cy="32461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D8D5D0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216152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PACKAGE (in)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25146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 (immutable scope version)</a:t>
            </a:r>
            <a:endParaRPr lang="en-US" sz="9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state &amp; task states (pending / running / completed / needs-clarification / failed / superseded)</a:t>
            </a:r>
            <a:endParaRPr lang="en-US" sz="9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output contracts</a:t>
            </a:r>
            <a:endParaRPr lang="en-US" sz="9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status &amp; unresolved questions</a:t>
            </a:r>
            <a:endParaRPr lang="en-US" sz="9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graph for invalidation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0" y="1143000"/>
            <a:ext cx="4846320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25400">
            <a:solidFill>
              <a:srgbClr val="1B31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94760" y="1234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Agent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794760" y="1554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FM · Mosaic AI Model Serving · system prompt v-managed in MLflow · structured output contract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3794760" y="2011680"/>
            <a:ext cx="4572000" cy="2240280"/>
          </a:xfrm>
          <a:prstGeom prst="roundRect">
            <a:avLst>
              <a:gd name="adj" fmla="val 2041"/>
            </a:avLst>
          </a:prstGeom>
          <a:solidFill>
            <a:srgbClr val="F5F4F2"/>
          </a:solidFill>
          <a:ln w="12700">
            <a:solidFill>
              <a:srgbClr val="D8D5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04488" y="207568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CALLS (allowlisted, read/query/retrieval only)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931920" y="2359152"/>
            <a:ext cx="4343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state read/write (Delta run tables — its only write surface, workflow metadata not recommendations)</a:t>
            </a:r>
            <a:endParaRPr lang="en-US" sz="8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dispatcher (Lakeflow Jobs API)</a:t>
            </a:r>
            <a:endParaRPr lang="en-US" sz="8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Context-assembly invoker (Context Engineering component)</a:t>
            </a:r>
            <a:endParaRPr lang="en-US" sz="8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Approval-queue router (Review Workbench)</a:t>
            </a:r>
            <a:endParaRPr lang="en-US" sz="8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Downstream-invalidation resolver (re-run only affected artifacts, D-10)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8915400" y="1143000"/>
            <a:ext cx="2834640" cy="324612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D8D5D0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25128" y="1216152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(Proposed state)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052560" y="1508760"/>
            <a:ext cx="25603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assignments + context packages per specialist agent</a:t>
            </a:r>
            <a:endParaRPr lang="en-US" sz="9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run records: run ID, scope version, task states</a:t>
            </a:r>
            <a:endParaRPr lang="en-US" sz="9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Review-routing events to named reviewers</a:t>
            </a:r>
            <a:endParaRPr lang="en-US" sz="9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Invalidation &amp; targeted re-run plans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91840" y="2743200"/>
            <a:ext cx="347472" cy="0"/>
          </a:xfrm>
          <a:prstGeom prst="line">
            <a:avLst/>
          </a:prstGeom>
          <a:noFill/>
          <a:ln w="25400">
            <a:solidFill>
              <a:srgbClr val="5B6B73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549640" y="2743200"/>
            <a:ext cx="347472" cy="0"/>
          </a:xfrm>
          <a:prstGeom prst="line">
            <a:avLst/>
          </a:prstGeom>
          <a:noFill/>
          <a:ln w="25400">
            <a:solidFill>
              <a:srgbClr val="5B6B73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657600" y="4892040"/>
            <a:ext cx="2331720" cy="960120"/>
          </a:xfrm>
          <a:prstGeom prst="roundRect">
            <a:avLst>
              <a:gd name="adj" fmla="val 4762"/>
            </a:avLst>
          </a:prstGeom>
          <a:solidFill>
            <a:srgbClr val="F0EAF6"/>
          </a:solidFill>
          <a:ln w="12700">
            <a:solidFill>
              <a:srgbClr val="7B4B9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12464" y="4928616"/>
            <a:ext cx="222199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memory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history, task states, decisions, open questions (Delta)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99048" y="4892040"/>
            <a:ext cx="2331720" cy="960120"/>
          </a:xfrm>
          <a:prstGeom prst="roundRect">
            <a:avLst>
              <a:gd name="adj" fmla="val 4762"/>
            </a:avLst>
          </a:prstGeom>
          <a:solidFill>
            <a:srgbClr val="FBEFE0"/>
          </a:solidFill>
          <a:ln w="12700">
            <a:solidFill>
              <a:srgbClr val="C26B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53912" y="4928616"/>
            <a:ext cx="222199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2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memory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contracts, routing rules, retry policy, thresholds (UC/MLflow)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080760" y="4407408"/>
            <a:ext cx="0" cy="457200"/>
          </a:xfrm>
          <a:prstGeom prst="line">
            <a:avLst/>
          </a:prstGeom>
          <a:noFill/>
          <a:ln w="25400">
            <a:solidFill>
              <a:srgbClr val="5B6B73"/>
            </a:solidFill>
            <a:prstDash val="solid"/>
            <a:headEnd type="triangl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3657600" y="587044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(only types this agent needs)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57200" y="6053328"/>
            <a:ext cx="11274552" cy="566928"/>
          </a:xfrm>
          <a:prstGeom prst="roundRect">
            <a:avLst>
              <a:gd name="adj" fmla="val 8065"/>
            </a:avLst>
          </a:prstGeom>
          <a:solidFill>
            <a:srgbClr val="FDECE8"/>
          </a:solidFill>
          <a:ln w="12700">
            <a:solidFill>
              <a:srgbClr val="FF362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6053328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&amp; EVAL   </a:t>
            </a:r>
            <a:pPr indent="0" marL="0">
              <a:buNone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retries with recorded error context; repeated failure / missing evidence routes to a named reviewer — never silently retried or inferred. Cannot alter recommendations or approval outcomes.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 · Source Intelligence Agent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Bronze evidence, recognizes COTS structures, detects customizations, proposes source classifications (no ingestion)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788920" cy="32461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D8D5D0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216152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PACKAGE (in)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25146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 metadata: catalogs, schemas, tables, columns, types, keys</a:t>
            </a:r>
            <a:endParaRPr lang="en-US" sz="9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Permitted profiling evidence: null rates, distincts, distributions, masked values</a:t>
            </a:r>
            <a:endParaRPr lang="en-US" sz="9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COTS models for the confirmed product/module/version</a:t>
            </a:r>
            <a:endParaRPr lang="en-US" sz="9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Domain/LOB scope + recognition criteria</a:t>
            </a:r>
            <a:endParaRPr lang="en-US" sz="9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notebooks, queries, reports, lineage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0" y="1143000"/>
            <a:ext cx="4846320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25400">
            <a:solidFill>
              <a:srgbClr val="1B31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94760" y="1234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Intelligence Agent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794760" y="1554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FM · Mosaic AI Model Serving · system prompt v-managed in MLflow · structured output contract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3794760" y="2011680"/>
            <a:ext cx="4572000" cy="2240280"/>
          </a:xfrm>
          <a:prstGeom prst="roundRect">
            <a:avLst>
              <a:gd name="adj" fmla="val 2041"/>
            </a:avLst>
          </a:prstGeom>
          <a:solidFill>
            <a:srgbClr val="F5F4F2"/>
          </a:solidFill>
          <a:ln w="12700">
            <a:solidFill>
              <a:srgbClr val="D8D5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04488" y="207568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CALLS (allowlisted, read/query/retrieval only)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931920" y="2359152"/>
            <a:ext cx="4343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 metadata reader (information_schema, read-only)</a:t>
            </a:r>
            <a:endParaRPr lang="en-US" sz="8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profiling queries (Databricks SQL, masked, sanitized per D-11)</a:t>
            </a:r>
            <a:endParaRPr lang="en-US" sz="8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Search: COTS documentation &amp; extension patterns</a:t>
            </a:r>
            <a:endParaRPr lang="en-US" sz="8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relationship inference utility (deterministic, non-agent)</a:t>
            </a:r>
            <a:endParaRPr lang="en-US" sz="8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Lineage &amp; artifact reader (notebooks, reports)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8915400" y="1143000"/>
            <a:ext cx="2834640" cy="324612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D8D5D0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25128" y="1216152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(Proposed state)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052560" y="1508760"/>
            <a:ext cx="25603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observation catalog: observed metadata, COTS recognition, customizations, inferred relationships</a:t>
            </a:r>
            <a:endParaRPr lang="en-US" sz="9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vs inferred flagged per element with evidence &amp; confidence</a:t>
            </a:r>
            <a:endParaRPr lang="en-US" sz="9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Unmatched / ambiguous elements flagged for SME review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91840" y="2743200"/>
            <a:ext cx="347472" cy="0"/>
          </a:xfrm>
          <a:prstGeom prst="line">
            <a:avLst/>
          </a:prstGeom>
          <a:noFill/>
          <a:ln w="25400">
            <a:solidFill>
              <a:srgbClr val="5B6B73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549640" y="2743200"/>
            <a:ext cx="347472" cy="0"/>
          </a:xfrm>
          <a:prstGeom prst="line">
            <a:avLst/>
          </a:prstGeom>
          <a:noFill/>
          <a:ln w="25400">
            <a:solidFill>
              <a:srgbClr val="5B6B73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657600" y="4892040"/>
            <a:ext cx="1524000" cy="960120"/>
          </a:xfrm>
          <a:prstGeom prst="roundRect">
            <a:avLst>
              <a:gd name="adj" fmla="val 4762"/>
            </a:avLst>
          </a:prstGeom>
          <a:solidFill>
            <a:srgbClr val="E7F2ED"/>
          </a:solidFill>
          <a:ln w="12700">
            <a:solidFill>
              <a:srgbClr val="2D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12464" y="4928616"/>
            <a:ext cx="141427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memory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COTS reference models &amp; version docs (Vector Search)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291328" y="4892040"/>
            <a:ext cx="1524000" cy="960120"/>
          </a:xfrm>
          <a:prstGeom prst="roundRect">
            <a:avLst>
              <a:gd name="adj" fmla="val 4762"/>
            </a:avLst>
          </a:prstGeom>
          <a:solidFill>
            <a:srgbClr val="F0EAF6"/>
          </a:solidFill>
          <a:ln w="12700">
            <a:solidFill>
              <a:srgbClr val="7B4B9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46192" y="4928616"/>
            <a:ext cx="141427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memory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approved recognitions &amp; classifications (Delta)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925056" y="4892040"/>
            <a:ext cx="1524000" cy="960120"/>
          </a:xfrm>
          <a:prstGeom prst="roundRect">
            <a:avLst>
              <a:gd name="adj" fmla="val 4762"/>
            </a:avLst>
          </a:prstGeom>
          <a:solidFill>
            <a:srgbClr val="FBEFE0"/>
          </a:solidFill>
          <a:ln w="12700">
            <a:solidFill>
              <a:srgbClr val="C26B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79920" y="4928616"/>
            <a:ext cx="141427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2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memory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criteria &amp; observation contract (UC/MLflow)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80760" y="4407408"/>
            <a:ext cx="0" cy="457200"/>
          </a:xfrm>
          <a:prstGeom prst="line">
            <a:avLst/>
          </a:prstGeom>
          <a:noFill/>
          <a:ln w="25400">
            <a:solidFill>
              <a:srgbClr val="5B6B73"/>
            </a:solidFill>
            <a:prstDash val="solid"/>
            <a:headEnd type="triangl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3657600" y="587044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(only types this agent needs)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57200" y="6053328"/>
            <a:ext cx="11274552" cy="566928"/>
          </a:xfrm>
          <a:prstGeom prst="roundRect">
            <a:avLst>
              <a:gd name="adj" fmla="val 8065"/>
            </a:avLst>
          </a:prstGeom>
          <a:solidFill>
            <a:srgbClr val="FDECE8"/>
          </a:solidFill>
          <a:ln w="12700">
            <a:solidFill>
              <a:srgbClr val="FF362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6053328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&amp; EVAL   </a:t>
            </a:r>
            <a:pPr indent="0" marL="0">
              <a:buNone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COTS baseline is reference, never proof a field exists (5.3). Observed facts strictly separated from inferred meaning; contradictions exposed, not resolved. Read-only identity — no ingestion or connector tools exist.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 · Ontology &amp; Semantic Agent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source concepts to the standard P&amp;C ontology and proposes governed specializations and extensions (D-01: standardize first)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788920" cy="32461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D8D5D0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216152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PACKAGE (in)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25146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ontology: concepts, definitions, relationships, synonyms, lifecycle states</a:t>
            </a:r>
            <a:endParaRPr lang="en-US" sz="9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COTS terminology &amp; version-specific synonyms</a:t>
            </a:r>
            <a:endParaRPr lang="en-US" sz="9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observation catalog (from Agent 2)</a:t>
            </a:r>
            <a:endParaRPr lang="en-US" sz="9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semantic decisions &amp; rejected proposals</a:t>
            </a:r>
            <a:endParaRPr lang="en-US" sz="9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→ LOB → product → coverage hierarchy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0" y="1143000"/>
            <a:ext cx="4846320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25400">
            <a:solidFill>
              <a:srgbClr val="1B31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94760" y="1234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&amp; Semantic Agent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794760" y="1554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FM · Mosaic AI Model Serving · system prompt v-managed in MLflow · structured output contract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3794760" y="2011680"/>
            <a:ext cx="4572000" cy="2240280"/>
          </a:xfrm>
          <a:prstGeom prst="roundRect">
            <a:avLst>
              <a:gd name="adj" fmla="val 2041"/>
            </a:avLst>
          </a:prstGeom>
          <a:solidFill>
            <a:srgbClr val="F5F4F2"/>
          </a:solidFill>
          <a:ln w="12700">
            <a:solidFill>
              <a:srgbClr val="D8D5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04488" y="207568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CALLS (allowlisted, read/query/retrieval only)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931920" y="2359152"/>
            <a:ext cx="4343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retrieval (Vector Search + UC glossary assets)</a:t>
            </a:r>
            <a:endParaRPr lang="en-US" sz="8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Synonym / terminology lookup (COTS + enterprise)</a:t>
            </a:r>
            <a:endParaRPr lang="en-US" sz="8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Prior-decision lookup (approved &amp; rejected, Delta)</a:t>
            </a:r>
            <a:endParaRPr lang="en-US" sz="8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classifier (domain, LOB, concept, privacy class candidate)</a:t>
            </a:r>
            <a:endParaRPr lang="en-US" sz="8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Candidate-extension proposer (writes Proposed records only)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8915400" y="1143000"/>
            <a:ext cx="2834640" cy="324612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D8D5D0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25128" y="1216152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(Proposed state)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052560" y="1508760"/>
            <a:ext cx="25603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mapping package: source-to-standard mappings with lifecycle state (Standard / Specialized / Source extension / Candidate / Unresolved)</a:t>
            </a:r>
            <a:endParaRPr lang="en-US" sz="9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extension candidates for steward approval</a:t>
            </a:r>
            <a:endParaRPr lang="en-US" sz="9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Unresolved concepts explicitly marked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91840" y="2743200"/>
            <a:ext cx="347472" cy="0"/>
          </a:xfrm>
          <a:prstGeom prst="line">
            <a:avLst/>
          </a:prstGeom>
          <a:noFill/>
          <a:ln w="25400">
            <a:solidFill>
              <a:srgbClr val="5B6B73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549640" y="2743200"/>
            <a:ext cx="347472" cy="0"/>
          </a:xfrm>
          <a:prstGeom prst="line">
            <a:avLst/>
          </a:prstGeom>
          <a:noFill/>
          <a:ln w="25400">
            <a:solidFill>
              <a:srgbClr val="5B6B73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657600" y="4892040"/>
            <a:ext cx="1524000" cy="960120"/>
          </a:xfrm>
          <a:prstGeom prst="roundRect">
            <a:avLst>
              <a:gd name="adj" fmla="val 4762"/>
            </a:avLst>
          </a:prstGeom>
          <a:solidFill>
            <a:srgbClr val="E7F2ED"/>
          </a:solidFill>
          <a:ln w="12700">
            <a:solidFill>
              <a:srgbClr val="2D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12464" y="4928616"/>
            <a:ext cx="141427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memory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ontology, glossary, synonyms, hierarchy (UC/Vector Search)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291328" y="4892040"/>
            <a:ext cx="1524000" cy="960120"/>
          </a:xfrm>
          <a:prstGeom prst="roundRect">
            <a:avLst>
              <a:gd name="adj" fmla="val 4762"/>
            </a:avLst>
          </a:prstGeom>
          <a:solidFill>
            <a:srgbClr val="F0EAF6"/>
          </a:solidFill>
          <a:ln w="12700">
            <a:solidFill>
              <a:srgbClr val="7B4B9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46192" y="4928616"/>
            <a:ext cx="141427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memory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Approved/rejected semantic decisions — rejections block re-proposals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925056" y="4892040"/>
            <a:ext cx="1524000" cy="960120"/>
          </a:xfrm>
          <a:prstGeom prst="roundRect">
            <a:avLst>
              <a:gd name="adj" fmla="val 4762"/>
            </a:avLst>
          </a:prstGeom>
          <a:solidFill>
            <a:srgbClr val="FBEFE0"/>
          </a:solidFill>
          <a:ln w="12700">
            <a:solidFill>
              <a:srgbClr val="C26B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79920" y="4928616"/>
            <a:ext cx="141427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2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memory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rules, lifecycle-state criteria, output contract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80760" y="4407408"/>
            <a:ext cx="0" cy="457200"/>
          </a:xfrm>
          <a:prstGeom prst="line">
            <a:avLst/>
          </a:prstGeom>
          <a:noFill/>
          <a:ln w="25400">
            <a:solidFill>
              <a:srgbClr val="5B6B73"/>
            </a:solidFill>
            <a:prstDash val="solid"/>
            <a:headEnd type="triangl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3657600" y="587044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(only types this agent needs)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57200" y="6053328"/>
            <a:ext cx="11274552" cy="566928"/>
          </a:xfrm>
          <a:prstGeom prst="roundRect">
            <a:avLst>
              <a:gd name="adj" fmla="val 8065"/>
            </a:avLst>
          </a:prstGeom>
          <a:solidFill>
            <a:srgbClr val="FDECE8"/>
          </a:solidFill>
          <a:ln w="12700">
            <a:solidFill>
              <a:srgbClr val="FF362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6053328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&amp; EVAL   </a:t>
            </a:r>
            <a:pPr indent="0" marL="0">
              <a:buNone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silently invents field semantics (Section 10). Extensions require evidence + steward approval; insufficient support ⇒ Unresolved, low-confidence or business-critical meaning routes to the data steward.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4 · Silver ODS Modeling Agent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canonical, source-independent Silver entities, attributes, keys, relationships, history, lineage, and privacy classes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788920" cy="32461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D8D5D0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216152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PACKAGE (in)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25146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semantic/ontology mapping (from Agent 3)</a:t>
            </a:r>
            <a:endParaRPr lang="en-US" sz="9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Silver standards: naming, keys, history, conventions</a:t>
            </a:r>
            <a:endParaRPr lang="en-US" sz="9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lineage &amp; observation evidence</a:t>
            </a:r>
            <a:endParaRPr lang="en-US" sz="9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&amp; temporality rules</a:t>
            </a:r>
            <a:endParaRPr lang="en-US" sz="9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classification taxonomy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0" y="1143000"/>
            <a:ext cx="4846320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25400">
            <a:solidFill>
              <a:srgbClr val="1B31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94760" y="1234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ODS Modeling Agent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794760" y="1554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FM · Mosaic AI Model Serving · system prompt v-managed in MLflow · structured output contract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3794760" y="2011680"/>
            <a:ext cx="4572000" cy="2240280"/>
          </a:xfrm>
          <a:prstGeom prst="roundRect">
            <a:avLst>
              <a:gd name="adj" fmla="val 2041"/>
            </a:avLst>
          </a:prstGeom>
          <a:solidFill>
            <a:srgbClr val="F5F4F2"/>
          </a:solidFill>
          <a:ln w="12700">
            <a:solidFill>
              <a:srgbClr val="D8D5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04488" y="207568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CALLS (allowlisted, read/query/retrieval only)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931920" y="2359152"/>
            <a:ext cx="4343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retrieval (Silver conventions, Vector Search + UC)</a:t>
            </a:r>
            <a:endParaRPr lang="en-US" sz="8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Approved-mapping reader (Delta, approval-state filtered)</a:t>
            </a:r>
            <a:endParaRPr lang="en-US" sz="8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Entity/relationship recommendation writer (Proposed state only)</a:t>
            </a:r>
            <a:endParaRPr lang="en-US" sz="8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Privacy-classification proposer (routed to privacy steward)</a:t>
            </a:r>
            <a:endParaRPr lang="en-US" sz="8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checker vs ontology &amp; standards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8915400" y="1143000"/>
            <a:ext cx="2834640" cy="324612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D8D5D0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25128" y="1216152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(Proposed state)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052560" y="1508760"/>
            <a:ext cx="25603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ODS recommendation: entities, attributes, keys, relationships, history treatment, lineage, assumptions</a:t>
            </a:r>
            <a:endParaRPr lang="en-US" sz="9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Attribute-level privacy classification proposals</a:t>
            </a:r>
            <a:endParaRPr lang="en-US" sz="9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Deviations from standards flagged with rationale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91840" y="2743200"/>
            <a:ext cx="347472" cy="0"/>
          </a:xfrm>
          <a:prstGeom prst="line">
            <a:avLst/>
          </a:prstGeom>
          <a:noFill/>
          <a:ln w="25400">
            <a:solidFill>
              <a:srgbClr val="5B6B73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549640" y="2743200"/>
            <a:ext cx="347472" cy="0"/>
          </a:xfrm>
          <a:prstGeom prst="line">
            <a:avLst/>
          </a:prstGeom>
          <a:noFill/>
          <a:ln w="25400">
            <a:solidFill>
              <a:srgbClr val="5B6B73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657600" y="4892040"/>
            <a:ext cx="1524000" cy="960120"/>
          </a:xfrm>
          <a:prstGeom prst="roundRect">
            <a:avLst>
              <a:gd name="adj" fmla="val 4762"/>
            </a:avLst>
          </a:prstGeom>
          <a:solidFill>
            <a:srgbClr val="E7F2ED"/>
          </a:solidFill>
          <a:ln w="12700">
            <a:solidFill>
              <a:srgbClr val="2D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12464" y="4928616"/>
            <a:ext cx="141427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memory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standards, ontology, privacy taxonomy (UC/Vector Search)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291328" y="4892040"/>
            <a:ext cx="1524000" cy="960120"/>
          </a:xfrm>
          <a:prstGeom prst="roundRect">
            <a:avLst>
              <a:gd name="adj" fmla="val 4762"/>
            </a:avLst>
          </a:prstGeom>
          <a:solidFill>
            <a:srgbClr val="F0EAF6"/>
          </a:solidFill>
          <a:ln w="12700">
            <a:solidFill>
              <a:srgbClr val="7B4B9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46192" y="4928616"/>
            <a:ext cx="141427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memory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entity &amp; mapping decisions from prior runs/projects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925056" y="4892040"/>
            <a:ext cx="1524000" cy="960120"/>
          </a:xfrm>
          <a:prstGeom prst="roundRect">
            <a:avLst>
              <a:gd name="adj" fmla="val 4762"/>
            </a:avLst>
          </a:prstGeom>
          <a:solidFill>
            <a:srgbClr val="FBEFE0"/>
          </a:solidFill>
          <a:ln w="12700">
            <a:solidFill>
              <a:srgbClr val="C26B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79920" y="4928616"/>
            <a:ext cx="141427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2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memory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conventions, key/history patterns, output contract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80760" y="4407408"/>
            <a:ext cx="0" cy="457200"/>
          </a:xfrm>
          <a:prstGeom prst="line">
            <a:avLst/>
          </a:prstGeom>
          <a:noFill/>
          <a:ln w="25400">
            <a:solidFill>
              <a:srgbClr val="5B6B73"/>
            </a:solidFill>
            <a:prstDash val="solid"/>
            <a:headEnd type="triangl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3657600" y="587044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(only types this agent needs)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57200" y="6053328"/>
            <a:ext cx="11274552" cy="566928"/>
          </a:xfrm>
          <a:prstGeom prst="roundRect">
            <a:avLst>
              <a:gd name="adj" fmla="val 8065"/>
            </a:avLst>
          </a:prstGeom>
          <a:solidFill>
            <a:srgbClr val="FDECE8"/>
          </a:solidFill>
          <a:ln w="12700">
            <a:solidFill>
              <a:srgbClr val="FF362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6053328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&amp; EVAL   </a:t>
            </a:r>
            <a:pPr indent="0" marL="0">
              <a:buNone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DDL or deployable schema output — structure recommendations only (D-04). Canonical model must be source-independent; structure, keys and grain require data-architect approval; privacy classes require privacy-steward approval.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5 · Gold Data Product Modeling Agent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facts, dimensions, grain, measures, conformed dimensions, data products, and expected derived attributes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788920" cy="32461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D8D5D0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216152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PACKAGE (in)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25146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Silver proposal (from Agent 4)</a:t>
            </a:r>
            <a:endParaRPr lang="en-US" sz="9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ontology &amp; domain/LOB hierarchy</a:t>
            </a:r>
            <a:endParaRPr lang="en-US" sz="9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Gold / dimensional standards</a:t>
            </a:r>
            <a:endParaRPr lang="en-US" sz="9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Intended consumers &amp; analytical use cases</a:t>
            </a:r>
            <a:endParaRPr lang="en-US" sz="9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&amp; derivation rules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0" y="1143000"/>
            <a:ext cx="4846320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25400">
            <a:solidFill>
              <a:srgbClr val="1B31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94760" y="1234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Data Product Modeling Agent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794760" y="1554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FM · Mosaic AI Model Serving · system prompt v-managed in MLflow · structured output contract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3794760" y="2011680"/>
            <a:ext cx="4572000" cy="2240280"/>
          </a:xfrm>
          <a:prstGeom prst="roundRect">
            <a:avLst>
              <a:gd name="adj" fmla="val 2041"/>
            </a:avLst>
          </a:prstGeom>
          <a:solidFill>
            <a:srgbClr val="F5F4F2"/>
          </a:solidFill>
          <a:ln w="12700">
            <a:solidFill>
              <a:srgbClr val="D8D5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04488" y="207568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CALLS (allowlisted, read/query/retrieval only)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931920" y="2359152"/>
            <a:ext cx="4343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retrieval (Gold/dimensional conventions)</a:t>
            </a:r>
            <a:endParaRPr lang="en-US" sz="8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Silver-model reader (Delta, approval-state filtered)</a:t>
            </a:r>
            <a:endParaRPr lang="en-US" sz="8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Derived-attribute proposer (traceable to rules &amp; evidence)</a:t>
            </a:r>
            <a:endParaRPr lang="en-US" sz="8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Conformed-dimension matcher (across domains/LOBs)</a:t>
            </a:r>
            <a:endParaRPr lang="en-US" sz="8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Data-product recommendation writer (Proposed state only)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8915400" y="1143000"/>
            <a:ext cx="2834640" cy="324612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D8D5D0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25128" y="1216152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(Proposed state)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052560" y="1508760"/>
            <a:ext cx="25603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recommendation: facts, dimensions, grain, measures, conformed dimensions</a:t>
            </a:r>
            <a:endParaRPr lang="en-US" sz="9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Domain/LOB data-product definitions</a:t>
            </a:r>
            <a:endParaRPr lang="en-US" sz="9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derived attributes with rule traceability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91840" y="2743200"/>
            <a:ext cx="347472" cy="0"/>
          </a:xfrm>
          <a:prstGeom prst="line">
            <a:avLst/>
          </a:prstGeom>
          <a:noFill/>
          <a:ln w="25400">
            <a:solidFill>
              <a:srgbClr val="5B6B73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549640" y="2743200"/>
            <a:ext cx="347472" cy="0"/>
          </a:xfrm>
          <a:prstGeom prst="line">
            <a:avLst/>
          </a:prstGeom>
          <a:noFill/>
          <a:ln w="25400">
            <a:solidFill>
              <a:srgbClr val="5B6B73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657600" y="4892040"/>
            <a:ext cx="1524000" cy="960120"/>
          </a:xfrm>
          <a:prstGeom prst="roundRect">
            <a:avLst>
              <a:gd name="adj" fmla="val 4762"/>
            </a:avLst>
          </a:prstGeom>
          <a:solidFill>
            <a:srgbClr val="E7F2ED"/>
          </a:solidFill>
          <a:ln w="12700">
            <a:solidFill>
              <a:srgbClr val="2D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12464" y="4928616"/>
            <a:ext cx="141427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memory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standards, ontology, conformed-dimension registry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291328" y="4892040"/>
            <a:ext cx="1524000" cy="960120"/>
          </a:xfrm>
          <a:prstGeom prst="roundRect">
            <a:avLst>
              <a:gd name="adj" fmla="val 4762"/>
            </a:avLst>
          </a:prstGeom>
          <a:solidFill>
            <a:srgbClr val="F0EAF6"/>
          </a:solidFill>
          <a:ln w="12700">
            <a:solidFill>
              <a:srgbClr val="7B4B9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46192" y="4928616"/>
            <a:ext cx="141427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memory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approved Gold models &amp; data products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925056" y="4892040"/>
            <a:ext cx="1524000" cy="960120"/>
          </a:xfrm>
          <a:prstGeom prst="roundRect">
            <a:avLst>
              <a:gd name="adj" fmla="val 4762"/>
            </a:avLst>
          </a:prstGeom>
          <a:solidFill>
            <a:srgbClr val="FBEFE0"/>
          </a:solidFill>
          <a:ln w="12700">
            <a:solidFill>
              <a:srgbClr val="C26B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79920" y="4928616"/>
            <a:ext cx="141427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2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memory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Grain/measure rules, derivation patterns, output contract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80760" y="4407408"/>
            <a:ext cx="0" cy="457200"/>
          </a:xfrm>
          <a:prstGeom prst="line">
            <a:avLst/>
          </a:prstGeom>
          <a:noFill/>
          <a:ln w="25400">
            <a:solidFill>
              <a:srgbClr val="5B6B73"/>
            </a:solidFill>
            <a:prstDash val="solid"/>
            <a:headEnd type="triangl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3657600" y="587044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(only types this agent needs)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57200" y="6053328"/>
            <a:ext cx="11274552" cy="566928"/>
          </a:xfrm>
          <a:prstGeom prst="roundRect">
            <a:avLst>
              <a:gd name="adj" fmla="val 8065"/>
            </a:avLst>
          </a:prstGeom>
          <a:solidFill>
            <a:srgbClr val="FDECE8"/>
          </a:solidFill>
          <a:ln w="12700">
            <a:solidFill>
              <a:srgbClr val="FF362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6053328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&amp; EVAL   </a:t>
            </a:r>
            <a:pPr indent="0" marL="0">
              <a:buNone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Grain, keys and conformance require data-architect approval; every derived attribute traces to an approved or explicitly inferred rule; no aggregation/pipeline code is produced.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6 · STTM &amp; Business-Rule Agent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Bronze-to-Silver and Silver-to-Gold STTM recommendations, transformation logic descriptions, and rule specifications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788920" cy="32461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D8D5D0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216152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PACKAGE (in)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25146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observation catalog + evidence</a:t>
            </a:r>
            <a:endParaRPr lang="en-US" sz="9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/ proposed Silver and Gold models</a:t>
            </a:r>
            <a:endParaRPr lang="en-US" sz="9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mapping package</a:t>
            </a:r>
            <a:endParaRPr lang="en-US" sz="9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STTM standards (minimum record, Section 12.1)</a:t>
            </a:r>
            <a:endParaRPr lang="en-US" sz="9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business-rule corpus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0" y="1143000"/>
            <a:ext cx="4846320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25400">
            <a:solidFill>
              <a:srgbClr val="1B31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94760" y="1234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STTM &amp; Business-Rule Agent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794760" y="1554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FM · Mosaic AI Model Serving · system prompt v-managed in MLflow · structured output contract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3794760" y="2011680"/>
            <a:ext cx="4572000" cy="2240280"/>
          </a:xfrm>
          <a:prstGeom prst="roundRect">
            <a:avLst>
              <a:gd name="adj" fmla="val 2041"/>
            </a:avLst>
          </a:prstGeom>
          <a:solidFill>
            <a:srgbClr val="F5F4F2"/>
          </a:solidFill>
          <a:ln w="12700">
            <a:solidFill>
              <a:srgbClr val="D8D5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04488" y="207568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CALLS (allowlisted, read/query/retrieval only)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931920" y="2359152"/>
            <a:ext cx="4343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readers: Bronze observations, Silver &amp; Gold recommendations</a:t>
            </a:r>
            <a:endParaRPr lang="en-US" sz="8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Rule-corpus retrieval (approved vs inferred, Vector Search + Delta)</a:t>
            </a:r>
            <a:endParaRPr lang="en-US" sz="8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STTM record writer (structured contract: scope, source, target, logic, trust, governance)</a:t>
            </a:r>
            <a:endParaRPr lang="en-US" sz="8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Rule-conflict &amp; coverage checker</a:t>
            </a:r>
            <a:endParaRPr lang="en-US" sz="8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Derivation-description composer (natural-language logic, not code)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8915400" y="1143000"/>
            <a:ext cx="2834640" cy="324612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D8D5D0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25128" y="1216152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(Proposed state)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052560" y="1508760"/>
            <a:ext cx="25603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STTM package: attribute-level Bronze→Silver &amp; Silver→Gold mappings with transformation recommendations</a:t>
            </a:r>
            <a:endParaRPr lang="en-US" sz="9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Business-rule catalog: approved, inferred, conflicting, unresolved — with domain/LOB applicability</a:t>
            </a:r>
            <a:endParaRPr lang="en-US" sz="9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 carries evidence, confidence, assumptions, open questions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91840" y="2743200"/>
            <a:ext cx="347472" cy="0"/>
          </a:xfrm>
          <a:prstGeom prst="line">
            <a:avLst/>
          </a:prstGeom>
          <a:noFill/>
          <a:ln w="25400">
            <a:solidFill>
              <a:srgbClr val="5B6B73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549640" y="2743200"/>
            <a:ext cx="347472" cy="0"/>
          </a:xfrm>
          <a:prstGeom prst="line">
            <a:avLst/>
          </a:prstGeom>
          <a:noFill/>
          <a:ln w="25400">
            <a:solidFill>
              <a:srgbClr val="5B6B73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657600" y="4892040"/>
            <a:ext cx="1524000" cy="960120"/>
          </a:xfrm>
          <a:prstGeom prst="roundRect">
            <a:avLst>
              <a:gd name="adj" fmla="val 4762"/>
            </a:avLst>
          </a:prstGeom>
          <a:solidFill>
            <a:srgbClr val="E7F2ED"/>
          </a:solidFill>
          <a:ln w="12700">
            <a:solidFill>
              <a:srgbClr val="2D7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12464" y="4928616"/>
            <a:ext cx="141427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memory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corpus, mapping standards, ontology (UC/Vector Search)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291328" y="4892040"/>
            <a:ext cx="1524000" cy="960120"/>
          </a:xfrm>
          <a:prstGeom prst="roundRect">
            <a:avLst>
              <a:gd name="adj" fmla="val 4762"/>
            </a:avLst>
          </a:prstGeom>
          <a:solidFill>
            <a:srgbClr val="F0EAF6"/>
          </a:solidFill>
          <a:ln w="12700">
            <a:solidFill>
              <a:srgbClr val="7B4B9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46192" y="4928616"/>
            <a:ext cx="141427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memory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mappings &amp; rule decisions from prior engagements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925056" y="4892040"/>
            <a:ext cx="1524000" cy="960120"/>
          </a:xfrm>
          <a:prstGeom prst="roundRect">
            <a:avLst>
              <a:gd name="adj" fmla="val 4762"/>
            </a:avLst>
          </a:prstGeom>
          <a:solidFill>
            <a:srgbClr val="FBEFE0"/>
          </a:solidFill>
          <a:ln w="12700">
            <a:solidFill>
              <a:srgbClr val="C26B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79920" y="4928616"/>
            <a:ext cx="141427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2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memory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STTM minimum-record contract, transformation patterns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80760" y="4407408"/>
            <a:ext cx="0" cy="457200"/>
          </a:xfrm>
          <a:prstGeom prst="line">
            <a:avLst/>
          </a:prstGeom>
          <a:noFill/>
          <a:ln w="25400">
            <a:solidFill>
              <a:srgbClr val="5B6B73"/>
            </a:solidFill>
            <a:prstDash val="solid"/>
            <a:headEnd type="triangl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3657600" y="587044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(only types this agent needs)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57200" y="6053328"/>
            <a:ext cx="11274552" cy="566928"/>
          </a:xfrm>
          <a:prstGeom prst="roundRect">
            <a:avLst>
              <a:gd name="adj" fmla="val 8065"/>
            </a:avLst>
          </a:prstGeom>
          <a:solidFill>
            <a:srgbClr val="FDECE8"/>
          </a:solidFill>
          <a:ln w="12700">
            <a:solidFill>
              <a:srgbClr val="FF362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6053328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&amp; EVAL   </a:t>
            </a:r>
            <a:pPr indent="0" marL="0">
              <a:buNone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logic is specified descriptively — never as executable SQL/PySpark (D-04). Approved rules strictly separated from inferred rules; conflicts exposed and routed, not resolved.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7 · Trust &amp; Review Agent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evidence, confidence, completeness, consistency, and traceability; routes exceptions to named humans (never approves)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2788920" cy="32461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D8D5D0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216152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PACKAGE (in)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25146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recommendations across agents with evidence &amp; provenance</a:t>
            </a:r>
            <a:endParaRPr lang="en-US" sz="9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component scores &amp; assumptions</a:t>
            </a:r>
            <a:endParaRPr lang="en-US" sz="9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Contradictions &amp; unresolved items</a:t>
            </a:r>
            <a:endParaRPr lang="en-US" sz="9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standards &amp; acceptance criteria</a:t>
            </a:r>
            <a:endParaRPr lang="en-US" sz="9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criteria &amp; reviewer roster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0" y="1143000"/>
            <a:ext cx="4846320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25400">
            <a:solidFill>
              <a:srgbClr val="1B31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94760" y="1234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Review Agent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794760" y="1554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FM · Mosaic AI Model Serving · system prompt v-managed in MLflow · structured output contract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3794760" y="2011680"/>
            <a:ext cx="4572000" cy="2240280"/>
          </a:xfrm>
          <a:prstGeom prst="roundRect">
            <a:avLst>
              <a:gd name="adj" fmla="val 2041"/>
            </a:avLst>
          </a:prstGeom>
          <a:solidFill>
            <a:srgbClr val="F5F4F2"/>
          </a:solidFill>
          <a:ln w="12700">
            <a:solidFill>
              <a:srgbClr val="D8D5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04488" y="207568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CALLS (allowlisted, read/query/retrieval only)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931920" y="2359152"/>
            <a:ext cx="4343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&amp; completeness evaluator (per output contract)</a:t>
            </a:r>
            <a:endParaRPr lang="en-US" sz="8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confidence calculator — retrieval fit, pattern strength, COTS match, rule consistency, contradiction checks, reviewer history (19.1)</a:t>
            </a:r>
            <a:endParaRPr lang="en-US" sz="8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Contradiction detector across artifacts &amp; evidence</a:t>
            </a:r>
            <a:endParaRPr lang="en-US" sz="8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evaluation runner (judges vs labelled reviewer-decision set)</a:t>
            </a:r>
            <a:endParaRPr lang="en-US" sz="88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router (architect / SME-steward / privacy steward)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8915400" y="1143000"/>
            <a:ext cx="2834640" cy="324612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D8D5D0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25128" y="1216152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(Proposed state)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052560" y="1508760"/>
            <a:ext cx="25603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assessment: completeness, evidence sufficiency, calibrated confidence, contradictions, approval readiness</a:t>
            </a:r>
            <a:endParaRPr lang="en-US" sz="9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decisions: auto-progress vs needs-clarification vs named reviewer</a:t>
            </a:r>
            <a:endParaRPr lang="en-US" sz="9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reports &amp; drift alerts (recalibrate when error rates drift)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91840" y="2743200"/>
            <a:ext cx="347472" cy="0"/>
          </a:xfrm>
          <a:prstGeom prst="line">
            <a:avLst/>
          </a:prstGeom>
          <a:noFill/>
          <a:ln w="25400">
            <a:solidFill>
              <a:srgbClr val="5B6B73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549640" y="2743200"/>
            <a:ext cx="347472" cy="0"/>
          </a:xfrm>
          <a:prstGeom prst="line">
            <a:avLst/>
          </a:prstGeom>
          <a:noFill/>
          <a:ln w="25400">
            <a:solidFill>
              <a:srgbClr val="5B6B73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657600" y="4892040"/>
            <a:ext cx="1524000" cy="960120"/>
          </a:xfrm>
          <a:prstGeom prst="roundRect">
            <a:avLst>
              <a:gd name="adj" fmla="val 4762"/>
            </a:avLst>
          </a:prstGeom>
          <a:solidFill>
            <a:srgbClr val="F0EAF6"/>
          </a:solidFill>
          <a:ln w="12700">
            <a:solidFill>
              <a:srgbClr val="7B4B9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12464" y="4928616"/>
            <a:ext cx="141427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4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Episodic memory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outcomes, overrides, rejection rationale — calibration set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291328" y="4892040"/>
            <a:ext cx="1524000" cy="960120"/>
          </a:xfrm>
          <a:prstGeom prst="roundRect">
            <a:avLst>
              <a:gd name="adj" fmla="val 4762"/>
            </a:avLst>
          </a:prstGeom>
          <a:solidFill>
            <a:srgbClr val="FBEFE0"/>
          </a:solidFill>
          <a:ln w="12700">
            <a:solidFill>
              <a:srgbClr val="C26B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46192" y="4928616"/>
            <a:ext cx="141427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26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memory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method, thresholds, routing &amp; completeness criteria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925056" y="4892040"/>
            <a:ext cx="1524000" cy="960120"/>
          </a:xfrm>
          <a:prstGeom prst="roundRect">
            <a:avLst>
              <a:gd name="adj" fmla="val 4762"/>
            </a:avLst>
          </a:prstGeom>
          <a:solidFill>
            <a:srgbClr val="E7F2ED"/>
          </a:solidFill>
          <a:ln w="12700">
            <a:solidFill>
              <a:srgbClr val="2D7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79920" y="4928616"/>
            <a:ext cx="1414272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memory</a:t>
            </a:r>
            <a:endParaRPr lang="en-US" sz="950" dirty="0"/>
          </a:p>
          <a:p>
            <a:pPr indent="0" marL="0">
              <a:buNone/>
            </a:pPr>
            <a:r>
              <a:rPr lang="en-US" sz="8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used for consistency checks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80760" y="4407408"/>
            <a:ext cx="0" cy="457200"/>
          </a:xfrm>
          <a:prstGeom prst="line">
            <a:avLst/>
          </a:prstGeom>
          <a:noFill/>
          <a:ln w="25400">
            <a:solidFill>
              <a:srgbClr val="5B6B73"/>
            </a:solidFill>
            <a:prstDash val="solid"/>
            <a:headEnd type="triangl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3657600" y="587044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(only types this agent needs)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57200" y="6053328"/>
            <a:ext cx="11274552" cy="566928"/>
          </a:xfrm>
          <a:prstGeom prst="roundRect">
            <a:avLst>
              <a:gd name="adj" fmla="val 8065"/>
            </a:avLst>
          </a:prstGeom>
          <a:solidFill>
            <a:srgbClr val="FDECE8"/>
          </a:solidFill>
          <a:ln w="12700">
            <a:solidFill>
              <a:srgbClr val="FF362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6053328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&amp; EVAL   </a:t>
            </a:r>
            <a:pPr indent="0" marL="0">
              <a:buNone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may explain a confidence score but must not self-certify it (D-09). This agent cannot approve anything; confidence gates workflow progression only — human approval remains mandatory for authority.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&amp; Guardrail Architecture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through traceability and controlled approval — not autonomous agent consensus (Section 13)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553212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FF3621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216152"/>
            <a:ext cx="531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guardrails (enforced, auditable)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5257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binding: agents receive only approved read/query/retrieval tools; write, deploy, execute, credential and ingest capabilities are absent from the surface (D-08)</a:t>
            </a:r>
            <a:endParaRPr lang="en-US" sz="93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service identity per agent; engagement isolation via UC catalogs, scoped retrieval collections, isolated audit (D-12)</a:t>
            </a:r>
            <a:endParaRPr lang="en-US" sz="93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evidence: classify → minimize → mask before any semantic use; raw narrative/medical/legal text not indexed by default (D-11)</a:t>
            </a:r>
            <a:endParaRPr lang="en-US" sz="93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Recommendation-only boundary: no DDL, pipelines, or executable code can be produced or deployed (D-04)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6217920" y="1143000"/>
            <a:ext cx="5532120" cy="265176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FF3621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27648" y="1216152"/>
            <a:ext cx="531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guardrails (per task)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55080" y="1508760"/>
            <a:ext cx="5257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Pre-flight: scope &amp; filter validation, prompt-injection screen, evidence-class check on every retrieval</a:t>
            </a:r>
            <a:endParaRPr lang="en-US" sz="93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In-flight: observed vs inferred separation; contradictions surfaced, never auto-resolved; unresolved concepts marked, not guessed</a:t>
            </a:r>
            <a:endParaRPr lang="en-US" sz="93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Post-flight: output-contract schema validation; every material recommendation must carry evidence, provenance, confidence, assumptions, contradictions, approval state (D-07)</a:t>
            </a:r>
            <a:endParaRPr lang="en-US" sz="93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handling: bounded retries with recorded context; persistent issues escalate to a named reviewer (19.2)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457200" y="3977640"/>
            <a:ext cx="5532120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8D5D0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66928" y="4050792"/>
            <a:ext cx="531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architecture (MLflow)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4343400"/>
            <a:ext cx="52578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reviewer-decision set = ground truth; confidence method evaluated and recalibrated when error rates drift (19.1)</a:t>
            </a:r>
            <a:endParaRPr lang="en-US" sz="93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Per-agent eval datasets &amp; judges: mapping precision/recall, evidence completeness, contract conformance</a:t>
            </a:r>
            <a:endParaRPr lang="en-US" sz="93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tracing for every run: prompt version, model version, context package, tool calls, outputs</a:t>
            </a:r>
            <a:endParaRPr lang="en-US" sz="93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gates vs Section 19.4 targets: evidence completeness 100%, sensitive-evidence compliance 100%, override rate baselined &amp; reduced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6217920" y="3977640"/>
            <a:ext cx="5532120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8D5D0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27648" y="4050792"/>
            <a:ext cx="5312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routing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5080" y="4343400"/>
            <a:ext cx="52578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states: Proposed → Needs clarification → Reviewed → Approved / Rejected / Superseded</a:t>
            </a:r>
            <a:endParaRPr lang="en-US" sz="93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architect: structure, grain, keys, canonicalization · SME/steward: meaning, mappings, rules · Privacy steward: privacy classes</a:t>
            </a:r>
            <a:endParaRPr lang="en-US" sz="93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thresholds route work: high ⇒ auto-progress to next analysis task only; low / conflicting / business-critical ⇒ mandatory named reviewer</a:t>
            </a:r>
            <a:endParaRPr lang="en-US" sz="93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93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Rejections retained with rationale to prevent repeated proposals; approvals versioned and reused as governed context</a:t>
            </a:r>
            <a:endParaRPr lang="en-US" sz="93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 &amp; Trust Flow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Durable, idempotent run (D-10): rejection or new evidence invalidates only affected artifacts and their downstream dependents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69748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5875">
            <a:solidFill>
              <a:srgbClr val="1B313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325880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Scope
</a:t>
            </a:r>
            <a:pPr indent="0" marL="0">
              <a:buNone/>
            </a:pPr>
            <a:r>
              <a:rPr lang="en-US" sz="88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scope: platform, product/module/version, domains/LOBs, approvers
</a:t>
            </a:r>
            <a:pPr indent="0" marL="0">
              <a:buNone/>
            </a:pPr>
            <a:r>
              <a:rPr lang="en-US" sz="800" b="1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063240" y="2075688"/>
            <a:ext cx="246888" cy="0"/>
          </a:xfrm>
          <a:prstGeom prst="line">
            <a:avLst/>
          </a:prstGeom>
          <a:noFill/>
          <a:ln w="25400">
            <a:solidFill>
              <a:srgbClr val="5B6B73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310128" y="1234440"/>
            <a:ext cx="269748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5875">
            <a:solidFill>
              <a:srgbClr val="1B31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9856" y="1325880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Ground
</a:t>
            </a:r>
            <a:pPr indent="0" marL="0">
              <a:buNone/>
            </a:pPr>
            <a:r>
              <a:rPr lang="en-US" sz="88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governed ontology, COTS models, standards, prior decisions
</a:t>
            </a:r>
            <a:pPr indent="0" marL="0">
              <a:buNone/>
            </a:pPr>
            <a:r>
              <a:rPr lang="en-US" sz="800" b="1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07608" y="2075688"/>
            <a:ext cx="246888" cy="0"/>
          </a:xfrm>
          <a:prstGeom prst="line">
            <a:avLst/>
          </a:prstGeom>
          <a:noFill/>
          <a:ln w="25400">
            <a:solidFill>
              <a:srgbClr val="5B6B73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254496" y="1234440"/>
            <a:ext cx="269748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5875">
            <a:solidFill>
              <a:srgbClr val="1B313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4224" y="1325880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Observe
</a:t>
            </a:r>
            <a:pPr indent="0" marL="0">
              <a:buNone/>
            </a:pPr>
            <a:r>
              <a:rPr lang="en-US" sz="88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Bronze metadata &amp; profiles; recognize COTS; flag unmatched
</a:t>
            </a:r>
            <a:pPr indent="0" marL="0">
              <a:buNone/>
            </a:pPr>
            <a:r>
              <a:rPr lang="en-US" sz="800" b="1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Intelligence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951976" y="2075688"/>
            <a:ext cx="246888" cy="0"/>
          </a:xfrm>
          <a:prstGeom prst="line">
            <a:avLst/>
          </a:prstGeom>
          <a:noFill/>
          <a:ln w="25400">
            <a:solidFill>
              <a:srgbClr val="5B6B73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198864" y="1234440"/>
            <a:ext cx="269748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5875">
            <a:solidFill>
              <a:srgbClr val="1B313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08592" y="1325880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Classify &amp; Map
</a:t>
            </a:r>
            <a:pPr indent="0" marL="0">
              <a:buNone/>
            </a:pPr>
            <a:r>
              <a:rPr lang="en-US" sz="88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Domain/LOB/concept/privacy classification; ontology mappings &amp; extensions
</a:t>
            </a:r>
            <a:pPr indent="0" marL="0">
              <a:buNone/>
            </a:pPr>
            <a:r>
              <a:rPr lang="en-US" sz="800" b="1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&amp; Semantic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65760" y="3200400"/>
            <a:ext cx="269748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5875">
            <a:solidFill>
              <a:srgbClr val="1B313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291840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Model
</a:t>
            </a:r>
            <a:pPr indent="0" marL="0">
              <a:buNone/>
            </a:pPr>
            <a:r>
              <a:rPr lang="en-US" sz="88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ODS then Gold data products with derived attributes
</a:t>
            </a:r>
            <a:pPr indent="0" marL="0">
              <a:buNone/>
            </a:pPr>
            <a:r>
              <a:rPr lang="en-US" sz="800" b="1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+ Gold Agents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063240" y="4041648"/>
            <a:ext cx="246888" cy="0"/>
          </a:xfrm>
          <a:prstGeom prst="line">
            <a:avLst/>
          </a:prstGeom>
          <a:noFill/>
          <a:ln w="25400">
            <a:solidFill>
              <a:srgbClr val="5B6B73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310128" y="3200400"/>
            <a:ext cx="269748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5875">
            <a:solidFill>
              <a:srgbClr val="1B313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19856" y="3291840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Specify
</a:t>
            </a:r>
            <a:pPr indent="0" marL="0">
              <a:buNone/>
            </a:pPr>
            <a:r>
              <a:rPr lang="en-US" sz="88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Bronze→Silver &amp; Silver→Gold STTM and business-rule specifications
</a:t>
            </a:r>
            <a:pPr indent="0" marL="0">
              <a:buNone/>
            </a:pPr>
            <a:r>
              <a:rPr lang="en-US" sz="800" b="1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STTM &amp; Rule Agent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007608" y="4041648"/>
            <a:ext cx="246888" cy="0"/>
          </a:xfrm>
          <a:prstGeom prst="line">
            <a:avLst/>
          </a:prstGeom>
          <a:noFill/>
          <a:ln w="25400">
            <a:solidFill>
              <a:srgbClr val="5B6B73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254496" y="3200400"/>
            <a:ext cx="269748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5875">
            <a:solidFill>
              <a:srgbClr val="1B313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64224" y="3291840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Evaluate
</a:t>
            </a:r>
            <a:pPr indent="0" marL="0">
              <a:buNone/>
            </a:pPr>
            <a:r>
              <a:rPr lang="en-US" sz="88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Evidence, confidence, completeness, consistency, traceability
</a:t>
            </a:r>
            <a:pPr indent="0" marL="0">
              <a:buNone/>
            </a:pPr>
            <a:r>
              <a:rPr lang="en-US" sz="800" b="1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Review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951976" y="4041648"/>
            <a:ext cx="246888" cy="0"/>
          </a:xfrm>
          <a:prstGeom prst="line">
            <a:avLst/>
          </a:prstGeom>
          <a:noFill/>
          <a:ln w="25400">
            <a:solidFill>
              <a:srgbClr val="5B6B73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198864" y="3200400"/>
            <a:ext cx="2697480" cy="1691640"/>
          </a:xfrm>
          <a:prstGeom prst="roundRect">
            <a:avLst>
              <a:gd name="adj" fmla="val 3243"/>
            </a:avLst>
          </a:prstGeom>
          <a:solidFill>
            <a:srgbClr val="1B3139"/>
          </a:solidFill>
          <a:ln w="15875">
            <a:solidFill>
              <a:srgbClr val="1B313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08592" y="3291840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· Approve
</a:t>
            </a:r>
            <a:pPr indent="0" marL="0">
              <a:buNone/>
            </a:pPr>
            <a:r>
              <a:rPr lang="en-US" sz="88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to architect / steward / privacy steward; version decisions as reusable governed context
</a:t>
            </a:r>
            <a:pPr indent="0" marL="0">
              <a:buNone/>
            </a:pPr>
            <a:r>
              <a:rPr lang="en-US" sz="800" b="1" i="1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65760" y="5166360"/>
            <a:ext cx="11430000" cy="777240"/>
          </a:xfrm>
          <a:prstGeom prst="roundRect">
            <a:avLst>
              <a:gd name="adj" fmla="val 5882"/>
            </a:avLst>
          </a:prstGeom>
          <a:solidFill>
            <a:srgbClr val="F5F4F2"/>
          </a:solidFill>
          <a:ln w="12700">
            <a:solidFill>
              <a:srgbClr val="D8D5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51663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1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states:  </a:t>
            </a:r>
            <a:pPr indent="0" marL="0">
              <a:buNone/>
            </a:pPr>
            <a:r>
              <a:rPr lang="en-US" sz="10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→ Needs clarification → Reviewed → Approved / Rejected / Superseded.  </a:t>
            </a:r>
            <a:pPr indent="0" marL="0">
              <a:buNone/>
            </a:pPr>
            <a:r>
              <a:rPr lang="en-US" sz="9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rejected Silver entity re-runs only the affected semantic, Silver, Gold, STTM and trust tasks; approved artifacts and unrelated domains remain unchanged.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6053328"/>
            <a:ext cx="11274552" cy="566928"/>
          </a:xfrm>
          <a:prstGeom prst="roundRect">
            <a:avLst>
              <a:gd name="adj" fmla="val 8065"/>
            </a:avLst>
          </a:prstGeom>
          <a:solidFill>
            <a:srgbClr val="FDECE8"/>
          </a:solidFill>
          <a:ln w="12700">
            <a:solidFill>
              <a:srgbClr val="FF362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6053328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&amp; EVAL   </a:t>
            </a:r>
            <a:pPr indent="0" marL="0">
              <a:buNone/>
            </a:pPr>
            <a:r>
              <a:rPr lang="en-US" sz="900" dirty="0">
                <a:solidFill>
                  <a:srgbClr val="24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and rejected decisions are versioned and reused across later projects — reducing inconsistency and reviewer load release over release (acceptance criterion 16.9).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2026-07-11T15:58:02Z</dcterms:created>
  <dcterms:modified xsi:type="dcterms:W3CDTF">2026-07-11T15:58:02Z</dcterms:modified>
</cp:coreProperties>
</file>